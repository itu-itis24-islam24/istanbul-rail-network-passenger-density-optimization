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19050">
              <a:solidFill>
                <a:srgbClr val="94A3B8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0:00</c:v>
                </c:pt>
                <c:pt idx="1">
                  <c:v>1:00</c:v>
                </c:pt>
                <c:pt idx="2">
                  <c:v>2:00</c:v>
                </c:pt>
                <c:pt idx="3">
                  <c:v>3:00</c:v>
                </c:pt>
                <c:pt idx="4">
                  <c:v>4:00</c:v>
                </c:pt>
                <c:pt idx="5">
                  <c:v>5:00</c:v>
                </c:pt>
                <c:pt idx="6">
                  <c:v>6:00</c:v>
                </c:pt>
                <c:pt idx="7">
                  <c:v>7:00</c:v>
                </c:pt>
                <c:pt idx="8">
                  <c:v>8:00</c:v>
                </c:pt>
                <c:pt idx="9">
                  <c:v>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7</c:v>
                </c:pt>
                <c:pt idx="7">
                  <c:v>14</c:v>
                </c:pt>
                <c:pt idx="8">
                  <c:v>15</c:v>
                </c:pt>
                <c:pt idx="9">
                  <c:v>15</c:v>
                </c:pt>
                <c:pt idx="10">
                  <c:v>12</c:v>
                </c:pt>
                <c:pt idx="11">
                  <c:v>11</c:v>
                </c:pt>
                <c:pt idx="12">
                  <c:v>11</c:v>
                </c:pt>
                <c:pt idx="13">
                  <c:v>12</c:v>
                </c:pt>
                <c:pt idx="14">
                  <c:v>12</c:v>
                </c:pt>
                <c:pt idx="15">
                  <c:v>13</c:v>
                </c:pt>
                <c:pt idx="16">
                  <c:v>14</c:v>
                </c:pt>
                <c:pt idx="17">
                  <c:v>15</c:v>
                </c:pt>
                <c:pt idx="18">
                  <c:v>15</c:v>
                </c:pt>
                <c:pt idx="19">
                  <c:v>15</c:v>
                </c:pt>
                <c:pt idx="20">
                  <c:v>13</c:v>
                </c:pt>
                <c:pt idx="21">
                  <c:v>11</c:v>
                </c:pt>
                <c:pt idx="22">
                  <c:v>8</c:v>
                </c:pt>
                <c:pt idx="23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M=1 (free)</c:v>
                </c:pt>
              </c:strCache>
            </c:strRef>
          </c:tx>
          <c:spPr>
            <a:ln w="25400">
              <a:solidFill>
                <a:srgbClr val="7CFF8B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0:00</c:v>
                </c:pt>
                <c:pt idx="1">
                  <c:v>1:00</c:v>
                </c:pt>
                <c:pt idx="2">
                  <c:v>2:00</c:v>
                </c:pt>
                <c:pt idx="3">
                  <c:v>3:00</c:v>
                </c:pt>
                <c:pt idx="4">
                  <c:v>4:00</c:v>
                </c:pt>
                <c:pt idx="5">
                  <c:v>5:00</c:v>
                </c:pt>
                <c:pt idx="6">
                  <c:v>6:00</c:v>
                </c:pt>
                <c:pt idx="7">
                  <c:v>7:00</c:v>
                </c:pt>
                <c:pt idx="8">
                  <c:v>8:00</c:v>
                </c:pt>
                <c:pt idx="9">
                  <c:v>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12</c:v>
                </c:pt>
                <c:pt idx="7">
                  <c:v>20</c:v>
                </c:pt>
                <c:pt idx="8">
                  <c:v>23</c:v>
                </c:pt>
                <c:pt idx="9">
                  <c:v>22</c:v>
                </c:pt>
                <c:pt idx="10">
                  <c:v>18</c:v>
                </c:pt>
                <c:pt idx="11">
                  <c:v>16</c:v>
                </c:pt>
                <c:pt idx="12">
                  <c:v>16</c:v>
                </c:pt>
                <c:pt idx="13">
                  <c:v>17</c:v>
                </c:pt>
                <c:pt idx="14">
                  <c:v>17</c:v>
                </c:pt>
                <c:pt idx="15">
                  <c:v>19</c:v>
                </c:pt>
                <c:pt idx="16">
                  <c:v>20</c:v>
                </c:pt>
                <c:pt idx="17">
                  <c:v>22</c:v>
                </c:pt>
                <c:pt idx="18">
                  <c:v>23</c:v>
                </c:pt>
                <c:pt idx="19">
                  <c:v>21</c:v>
                </c:pt>
                <c:pt idx="20">
                  <c:v>18</c:v>
                </c:pt>
                <c:pt idx="21">
                  <c:v>16</c:v>
                </c:pt>
                <c:pt idx="22">
                  <c:v>13</c:v>
                </c:pt>
                <c:pt idx="23">
                  <c:v>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M=5 (balanced)</c:v>
                </c:pt>
              </c:strCache>
            </c:strRef>
          </c:tx>
          <c:spPr>
            <a:ln w="25400">
              <a:solidFill>
                <a:srgbClr val="00D4FF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0:00</c:v>
                </c:pt>
                <c:pt idx="1">
                  <c:v>1:00</c:v>
                </c:pt>
                <c:pt idx="2">
                  <c:v>2:00</c:v>
                </c:pt>
                <c:pt idx="3">
                  <c:v>3:00</c:v>
                </c:pt>
                <c:pt idx="4">
                  <c:v>4:00</c:v>
                </c:pt>
                <c:pt idx="5">
                  <c:v>5:00</c:v>
                </c:pt>
                <c:pt idx="6">
                  <c:v>6:00</c:v>
                </c:pt>
                <c:pt idx="7">
                  <c:v>7:00</c:v>
                </c:pt>
                <c:pt idx="8">
                  <c:v>8:00</c:v>
                </c:pt>
                <c:pt idx="9">
                  <c:v>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9</c:v>
                </c:pt>
                <c:pt idx="7">
                  <c:v>17</c:v>
                </c:pt>
                <c:pt idx="8">
                  <c:v>20</c:v>
                </c:pt>
                <c:pt idx="9">
                  <c:v>19</c:v>
                </c:pt>
                <c:pt idx="10">
                  <c:v>15</c:v>
                </c:pt>
                <c:pt idx="11">
                  <c:v>13</c:v>
                </c:pt>
                <c:pt idx="12">
                  <c:v>13</c:v>
                </c:pt>
                <c:pt idx="13">
                  <c:v>14</c:v>
                </c:pt>
                <c:pt idx="14">
                  <c:v>14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18</c:v>
                </c:pt>
                <c:pt idx="20">
                  <c:v>15</c:v>
                </c:pt>
                <c:pt idx="21">
                  <c:v>13</c:v>
                </c:pt>
                <c:pt idx="22">
                  <c:v>10</c:v>
                </c:pt>
                <c:pt idx="23">
                  <c:v>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M=10 (expensive)</c:v>
                </c:pt>
              </c:strCache>
            </c:strRef>
          </c:tx>
          <c:spPr>
            <a:ln w="25400">
              <a:solidFill>
                <a:srgbClr val="FF6B35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0:00</c:v>
                </c:pt>
                <c:pt idx="1">
                  <c:v>1:00</c:v>
                </c:pt>
                <c:pt idx="2">
                  <c:v>2:00</c:v>
                </c:pt>
                <c:pt idx="3">
                  <c:v>3:00</c:v>
                </c:pt>
                <c:pt idx="4">
                  <c:v>4:00</c:v>
                </c:pt>
                <c:pt idx="5">
                  <c:v>5:00</c:v>
                </c:pt>
                <c:pt idx="6">
                  <c:v>6:00</c:v>
                </c:pt>
                <c:pt idx="7">
                  <c:v>7:00</c:v>
                </c:pt>
                <c:pt idx="8">
                  <c:v>8:00</c:v>
                </c:pt>
                <c:pt idx="9">
                  <c:v>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5</c:v>
                </c:pt>
                <c:pt idx="7">
                  <c:v>10</c:v>
                </c:pt>
                <c:pt idx="8">
                  <c:v>11</c:v>
                </c:pt>
                <c:pt idx="9">
                  <c:v>11</c:v>
                </c:pt>
                <c:pt idx="10">
                  <c:v>8</c:v>
                </c:pt>
                <c:pt idx="11">
                  <c:v>7</c:v>
                </c:pt>
                <c:pt idx="12">
                  <c:v>7</c:v>
                </c:pt>
                <c:pt idx="13">
                  <c:v>8</c:v>
                </c:pt>
                <c:pt idx="14">
                  <c:v>8</c:v>
                </c:pt>
                <c:pt idx="15">
                  <c:v>9</c:v>
                </c:pt>
                <c:pt idx="16">
                  <c:v>10</c:v>
                </c:pt>
                <c:pt idx="17">
                  <c:v>11</c:v>
                </c:pt>
                <c:pt idx="18">
                  <c:v>11</c:v>
                </c:pt>
                <c:pt idx="19">
                  <c:v>11</c:v>
                </c:pt>
                <c:pt idx="20">
                  <c:v>9</c:v>
                </c:pt>
                <c:pt idx="21">
                  <c:v>7</c:v>
                </c:pt>
                <c:pt idx="22">
                  <c:v>5</c:v>
                </c:pt>
                <c:pt idx="23">
                  <c:v>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36576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40096" y="0"/>
            <a:ext cx="6821424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11480"/>
            <a:ext cx="4206240" cy="274320"/>
          </a:xfrm>
          <a:prstGeom prst="rect">
            <a:avLst/>
          </a:prstGeom>
          <a:solidFill>
            <a:srgbClr val="0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D4FF"/>
                </a:solidFill>
                <a:latin typeface="Consolas"/>
              </a:rPr>
              <a:t>YZV202E  ·  OPTIMIZATION FOR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Istanbul Metro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D4FF"/>
                </a:solidFill>
                <a:latin typeface="Calibri"/>
              </a:rPr>
              <a:t>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0" i="0">
                <a:solidFill>
                  <a:srgbClr val="FFFFFF"/>
                </a:solidFill>
                <a:latin typeface="Calibri"/>
              </a:rPr>
              <a:t>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10 Lines · Unified Objective · Money Importance Scale · Real IBB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Emir Selim İslam  —  150240327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Atillahan Gözütok  —  150240332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Erdem Hasbek  —  150220305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Huzeyfe Dut  —  150230316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54864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548640"/>
            <a:ext cx="45720" cy="10789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6400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M1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051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AKSARAY–KIRAZLI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54864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548640"/>
            <a:ext cx="45720" cy="10789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6400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Calibri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051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HACIOSMAN–YENİKAPI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8308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0" y="1783080"/>
            <a:ext cx="45720" cy="1078992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1874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FF8B"/>
                </a:solidFill>
                <a:latin typeface="Calibri"/>
              </a:rPr>
              <a:t>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BAĞCILAR–BAŞAKŞEHİR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178308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1783080"/>
            <a:ext cx="45720" cy="10789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18745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Calibri"/>
              </a:rPr>
              <a:t>M4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KADIKÖY–SABIHA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01752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3017520"/>
            <a:ext cx="45720" cy="10789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31089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  <a:latin typeface="Calibri"/>
              </a:rPr>
              <a:t>M5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520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ÜSKÜDAR–ÇEKMEKÖY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01752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3017520"/>
            <a:ext cx="45720" cy="107899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1089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72B6"/>
                </a:solidFill>
                <a:latin typeface="Calibri"/>
              </a:rPr>
              <a:t>M6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520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LEVENT–BOĞAZİÇİ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425196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0" y="4251960"/>
            <a:ext cx="45720" cy="10789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4343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Calibri"/>
              </a:rPr>
              <a:t>M7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4754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YEŞİLPINAR–KABATAŞ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25196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69680" y="4251960"/>
            <a:ext cx="45720" cy="107899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43434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923C"/>
                </a:solidFill>
                <a:latin typeface="Calibri"/>
              </a:rPr>
              <a:t>M8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7548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BOSTANCI–PARSELLER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548640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0" y="5486400"/>
            <a:ext cx="45720" cy="10789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5577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  <a:latin typeface="Calibri"/>
              </a:rPr>
              <a:t>M9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59893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ATAKOY–HALKALΙ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5486400"/>
            <a:ext cx="2926080" cy="1078992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69680" y="5486400"/>
            <a:ext cx="45720" cy="1078992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5577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79F9"/>
                </a:solidFill>
                <a:latin typeface="Calibri"/>
              </a:rPr>
              <a:t>MARMARAY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59893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HALKALΙ–GEBZE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0" y="6492240"/>
            <a:ext cx="1216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ITU Computer and Informatics Faculty  ·  AI &amp; Data Engineering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  <a:latin typeface="Calibri"/>
              </a:rPr>
              <a:t>Unified metro network scheduling — all 10 lines simultaneously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120640" cy="521208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SCOPE 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4754880" cy="192024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45720" cy="19202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Proposal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Single-line demo (M2 only)
Static p=0.35 retention
Weather + synthetic data
Operational cost in 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840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206240"/>
            <a:ext cx="4754880" cy="192024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4206240"/>
            <a:ext cx="45720" cy="192024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159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FF8B"/>
                </a:solidFill>
                <a:latin typeface="Calibri"/>
              </a:rPr>
              <a:t>Final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09160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All 10 metro lines
OD-matrix onboard simulation
Real IBB data only
Money Importance scale (1–10)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325880"/>
            <a:ext cx="5852160" cy="521208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444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Network at a Glance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920240"/>
            <a:ext cx="2468880" cy="109728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920240"/>
            <a:ext cx="24688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578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Metro lines optimized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920240"/>
            <a:ext cx="2468880" cy="109728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1920240"/>
            <a:ext cx="24688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8" y="20574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6B35"/>
                </a:solidFill>
                <a:latin typeface="Calibri"/>
              </a:rPr>
              <a:t>~3.4M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57860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Istanbulkart records (2022–25)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246120"/>
            <a:ext cx="2468880" cy="109728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3246120"/>
            <a:ext cx="2468880" cy="4572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3383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CFF8B"/>
                </a:solidFill>
                <a:latin typeface="Calibri"/>
              </a:rPr>
              <a:t>208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0448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Total stations across all lines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3246120"/>
            <a:ext cx="2468880" cy="109728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3246120"/>
            <a:ext cx="246888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87968" y="338328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78BFA"/>
                </a:solidFill>
                <a:latin typeface="Calibri"/>
              </a:rPr>
              <a:t>2,189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90448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Baseline daily train trips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572000"/>
            <a:ext cx="2468880" cy="109728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4572000"/>
            <a:ext cx="24688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47091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BBF24"/>
                </a:solidFill>
                <a:latin typeface="Calibri"/>
              </a:rPr>
              <a:t>24h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2303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Hourly scheduling horizon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4572000"/>
            <a:ext cx="2468880" cy="109728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78240" y="4572000"/>
            <a:ext cx="246888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87968" y="47091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94A3B8"/>
                </a:solidFill>
                <a:latin typeface="Calibri"/>
              </a:rPr>
              <a:t>1–10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8" y="5230368"/>
            <a:ext cx="2240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Money Importance scale (μ)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Source: IBB Open Data Portal  ·  Hourly Istanbulkart tap records  ·  rayli_sistem_temiz.csv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Unified Objective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  <a:latin typeface="Calibri"/>
              </a:rPr>
              <a:t>All waiting times summed with equal weight across the entire metro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498079" cy="1234440"/>
          </a:xfrm>
          <a:prstGeom prst="rect">
            <a:avLst/>
          </a:prstGeom>
          <a:solidFill>
            <a:srgbClr val="0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1234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OBJECTIVE FUNCTION — NETWORK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7223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J = α × Σ(l,s,t) W(l,s,t)  +  μ × Σ(l,t) x(l,t)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7498079" cy="1051560"/>
          </a:xfrm>
          <a:prstGeom prst="rect">
            <a:avLst/>
          </a:prstGeom>
          <a:solidFill>
            <a:srgbClr val="25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54864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35"/>
                </a:solidFill>
                <a:latin typeface="Consolas"/>
              </a:rPr>
              <a:t>WAITING TIME — PER STATION PER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35808"/>
            <a:ext cx="7223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W(l,s,t) = (60 / 2·x(l,t))  ×  (D(l,s,t) / (x(l,t) − 1))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7498079" cy="1280160"/>
          </a:xfrm>
          <a:prstGeom prst="rect">
            <a:avLst/>
          </a:prstGeom>
          <a:solidFill>
            <a:srgbClr val="0C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" cy="128016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FF8B"/>
                </a:solidFill>
                <a:latin typeface="Consolas"/>
              </a:rPr>
              <a:t>MONEY IMPORTANCE → μ (LOG SCALE)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70248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μ = 10^((M − 5) × 0.5)    where M ∈ {1, 2, 3, ..., 10}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5488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nsolas"/>
              </a:rPr>
              <a:t>M=1 → μ≈0.03 (cheap trips)    M=5 → μ=1.0 (neutral)    M=10 → μ≈31 (expensive trips)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474720" cy="521208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35331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FF8B"/>
                </a:solidFill>
                <a:latin typeface="Calibri"/>
              </a:rPr>
              <a:t>Key Design Choices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874519"/>
            <a:ext cx="36576" cy="713232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892807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FF8B"/>
                </a:solidFill>
                <a:latin typeface="Calibri"/>
              </a:rPr>
              <a:t>Equal α=1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203703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All lines and stations weighted identically — no line gets priority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2743200"/>
            <a:ext cx="36576" cy="713232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276148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FF8B"/>
                </a:solidFill>
                <a:latin typeface="Calibri"/>
              </a:rPr>
              <a:t>Log-scale 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07238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Small changes at low M, big changes at high M — intuitive slider feel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611879"/>
            <a:ext cx="36576" cy="713232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3630167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FF8B"/>
                </a:solidFill>
                <a:latin typeface="Calibri"/>
              </a:rPr>
              <a:t>OD-based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3941063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Onboard load computed station-by-station using inferred OD matrix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4480559"/>
            <a:ext cx="36576" cy="713232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4498847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FF8B"/>
                </a:solidFill>
                <a:latin typeface="Calibri"/>
              </a:rPr>
              <a:t>Integer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809743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Decision variables are train counts; greedy search handles integers cleanly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5349240"/>
            <a:ext cx="36576" cy="713232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53675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FF8B"/>
                </a:solidFill>
                <a:latin typeface="Calibri"/>
              </a:rPr>
              <a:t>Per-hour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56784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24 independent optimization sub-problems — one per hour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Money Importance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  <a:latin typeface="Calibri"/>
              </a:rPr>
              <a:t>How the single slider drives the entire network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15568" cy="45720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D18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81912" y="1417320"/>
            <a:ext cx="1115568" cy="45720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D18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417320"/>
            <a:ext cx="1115568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6624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D18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31335" y="1417320"/>
            <a:ext cx="1115568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5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D18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1417320"/>
            <a:ext cx="1115568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D18"/>
                </a:solidFill>
                <a:latin typeface="Calibri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417320"/>
            <a:ext cx="1115568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D18"/>
                </a:solidFill>
                <a:latin typeface="Calibri"/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1417320"/>
            <a:ext cx="1115568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D18"/>
                </a:solidFill>
                <a:latin typeface="Calibri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0183" y="1417320"/>
            <a:ext cx="1115568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3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D18"/>
                </a:solidFill>
                <a:latin typeface="Calibri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4896" y="1417320"/>
            <a:ext cx="1115568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896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79608" y="1417320"/>
            <a:ext cx="1115568" cy="457200"/>
          </a:xfrm>
          <a:prstGeom prst="rect">
            <a:avLst/>
          </a:prstGeom>
          <a:solidFill>
            <a:srgbClr val="FF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8" y="1417320"/>
            <a:ext cx="1115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onsolas"/>
              </a:rPr>
              <a:t>CHEAPER  ←──────────────────────────────────────────────────────────────→  EXPENSIVE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423160"/>
            <a:ext cx="2212848" cy="3977639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423160"/>
            <a:ext cx="2212848" cy="54864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80160" y="2560320"/>
            <a:ext cx="566928" cy="50292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2560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FF8B"/>
                </a:solidFill>
                <a:latin typeface="Consola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17296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FF8B"/>
                </a:solidFill>
                <a:latin typeface="Calibri"/>
              </a:rPr>
              <a:t>M=1  (Nearly Free)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65760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Model ignores operational cost entirely. Adds trains wherever demand exists.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84632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Daily trips: +35–40% vs baseline
Waiting time: minimum possible
Use case: Emergency / event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98064" y="2423160"/>
            <a:ext cx="2212848" cy="3977639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98064" y="2423160"/>
            <a:ext cx="221284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21024" y="2560320"/>
            <a:ext cx="566928" cy="50292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21024" y="2560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Consola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07792" y="317296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M=3  (Budget Friendly)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7792" y="365760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Low cost weight. Adds trains generously at peak hours, minimal off-peak cuts.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07792" y="484632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Daily trips: +15–20% vs baseline
Waiting time: ~25% below baseline
Use case: High-demand weekday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38928" y="2423160"/>
            <a:ext cx="2212848" cy="3977639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38928" y="2423160"/>
            <a:ext cx="2212848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61888" y="2560320"/>
            <a:ext cx="566928" cy="50292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2560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Consola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48656" y="317296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M=5  (Balanced)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48656" y="365760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Neutral trade-off. Adds trains during clear demand peaks only.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6" y="484632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Daily trips: ±5% vs baseline
Waiting time: ~35% below baseline
Use case: Normal operations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9792" y="2423160"/>
            <a:ext cx="2212848" cy="3977639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79792" y="2423160"/>
            <a:ext cx="2212848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02752" y="2560320"/>
            <a:ext cx="566928" cy="50292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2560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35"/>
                </a:solidFill>
                <a:latin typeface="Consolas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317296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M=7  (Cost Conscious)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365760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Each extra train trip hurts the objective. Cuts shoulder-hour trains.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484632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Daily trips: −10–15% vs baseline
Waiting time: +10% vs baseline
Use case: Weekend / off-peak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0656" y="2423160"/>
            <a:ext cx="2212848" cy="3977639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20656" y="2423160"/>
            <a:ext cx="2212848" cy="54864"/>
          </a:xfrm>
          <a:prstGeom prst="rect">
            <a:avLst/>
          </a:prstGeom>
          <a:solidFill>
            <a:srgbClr val="FF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643616" y="2560320"/>
            <a:ext cx="566928" cy="50292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43616" y="256032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020"/>
                </a:solidFill>
                <a:latin typeface="Consolas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30384" y="3172968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020"/>
                </a:solidFill>
                <a:latin typeface="Calibri"/>
              </a:rPr>
              <a:t>M=10  (Minimize Trips)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0384" y="3657600"/>
            <a:ext cx="1993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Very expensive trains. Model strips down to essential peak-hour service.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30384" y="4846320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nsolas"/>
              </a:rPr>
              <a:t>Daily trips: −25–30% vs baseline
Waiting time: significantly higher
Use case: Cost optimization study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μ value controls the optimizer by amplifying or suppressing the penalty on each additional train dispatched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— Network Schedule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  <a:latin typeface="Calibri"/>
              </a:rPr>
              <a:t>How money importance reshapes train counts across the 24h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697480" cy="100584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697480" cy="4572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99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FF8B"/>
                </a:solidFill>
                <a:latin typeface="Calibri"/>
              </a:rPr>
              <a:t>~35%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Waiting ↓ (M=5, balanced)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25880"/>
            <a:ext cx="2697480" cy="100584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269748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399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4A3B8"/>
                </a:solidFill>
                <a:latin typeface="Calibri"/>
              </a:rPr>
              <a:t>2189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874519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Baseline total daily trips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2697480" cy="100584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26974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399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10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74519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Jointly optimized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25880"/>
            <a:ext cx="2697480" cy="100584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25880"/>
            <a:ext cx="26974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8" y="1399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Calibri"/>
              </a:rPr>
              <a:t>M=5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1874519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Best all-round config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2468880"/>
          <a:ext cx="7498079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ectangle 20"/>
          <p:cNvSpPr/>
          <p:nvPr/>
        </p:nvSpPr>
        <p:spPr>
          <a:xfrm>
            <a:off x="8229600" y="1280160"/>
            <a:ext cx="3474720" cy="521208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3898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Per-Line Impact (M=5)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828800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onsolas"/>
              </a:rPr>
              <a:t>Line    Δ Trips    Wait 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231136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23113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D4FF"/>
                </a:solidFill>
                <a:latin typeface="Consolas"/>
              </a:rPr>
              <a:t>M1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23113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+20  -32%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2660904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66090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6B35"/>
                </a:solidFill>
                <a:latin typeface="Consolas"/>
              </a:rPr>
              <a:t>M2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660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 +6  -40%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090672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09067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FF8B"/>
                </a:solidFill>
                <a:latin typeface="Consolas"/>
              </a:rPr>
              <a:t>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09067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+15  -28%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3520439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520439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78BFA"/>
                </a:solidFill>
                <a:latin typeface="Consolas"/>
              </a:rPr>
              <a:t>M4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520439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+22  -38%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3950207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950207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BF24"/>
                </a:solidFill>
                <a:latin typeface="Consolas"/>
              </a:rP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95020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 +8  -35%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4379976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37997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472B6"/>
                </a:solidFill>
                <a:latin typeface="Consolas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3799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+10  -22%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4809744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80974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4D399"/>
                </a:solidFill>
                <a:latin typeface="Consolas"/>
              </a:rPr>
              <a:t>M7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480974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+10  -30%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5239512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523951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923C"/>
                </a:solidFill>
                <a:latin typeface="Consolas"/>
              </a:rPr>
              <a:t>M8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5239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 +4  -25%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5669280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566928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0A5FA"/>
                </a:solidFill>
                <a:latin typeface="Consolas"/>
              </a:rPr>
              <a:t>M9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5400" y="56692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 +3  -20%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60" y="6099047"/>
            <a:ext cx="502920" cy="292608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60" y="6099047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79F9"/>
                </a:solidFill>
                <a:latin typeface="Consolas"/>
              </a:rPr>
              <a:t>MAR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609904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  +18  -42%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  <a:latin typeface="Calibri"/>
              </a:rPr>
              <a:t>Real-time multi-line optimizer — one slider controls the entire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315200" cy="1325880"/>
          </a:xfrm>
          <a:prstGeom prst="rect">
            <a:avLst/>
          </a:prstGeom>
          <a:solidFill>
            <a:srgbClr val="002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132588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FF8B"/>
                </a:solidFill>
                <a:latin typeface="Calibri"/>
              </a:rPr>
              <a:t>YES — Fully Interactive &amp;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Moving the Money Importance slider instantly re-runs the greedy optimizer for all 10 lines.
New hourly schedules appear in &lt;50ms. No server, no Python, no API — pure browser JavaScript.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7315200" cy="6858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4572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43784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onsolas"/>
              </a:rPr>
              <a:t>01  Schedule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36392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Stacked area showing all 10 lines · hourly train counts · vs baseline bar chart  ·  Per-line daily trips + net waiting per hour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47872"/>
            <a:ext cx="7315200" cy="6858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47872"/>
            <a:ext cx="4572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02736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Consolas"/>
              </a:rPr>
              <a:t>02  Demand Heatmap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95344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Station × hour grid for any selected line · toggle demand / trains / wait  ·  Hover for exact values · dark red = high intensity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06824"/>
            <a:ext cx="7315200" cy="6858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06824"/>
            <a:ext cx="45720" cy="68580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361688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FF8B"/>
                </a:solidFill>
                <a:latin typeface="Consolas"/>
              </a:rPr>
              <a:t>03  Line Drill-down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54296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Select any line → hourly schedule chart · waiting reduction · full detail table  ·  Demand overlay on schedule · delta column highlighted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65775"/>
            <a:ext cx="7315200" cy="6858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065775"/>
            <a:ext cx="457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20639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6B35"/>
                </a:solidFill>
                <a:latin typeface="Consolas"/>
              </a:rPr>
              <a:t>04  Before vs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413247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All-lines bar: baseline vs optimized waiting time · improvement table  ·  Wait-reduction histogram · per-line % improvement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24727"/>
            <a:ext cx="7315200" cy="6858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824727"/>
            <a:ext cx="45720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879591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78BFA"/>
                </a:solidFill>
                <a:latin typeface="Consolas"/>
              </a:rPr>
              <a:t>05  Money Sensitivity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72199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Pre-computed results for all 10 M values · waiting vs trips trade-off  ·  Per-line stacked bar at each M level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234440"/>
            <a:ext cx="3657600" cy="534924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3533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How the Slider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8288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μ = 10^((M−5)×0.5)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377440"/>
            <a:ext cx="3383280" cy="603504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423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FF8B"/>
                </a:solidFill>
                <a:latin typeface="Consolas"/>
              </a:rPr>
              <a:t>M=1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23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μ = 0.032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Train trips are free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108960"/>
            <a:ext cx="3383280" cy="603504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54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onsolas"/>
              </a:rPr>
              <a:t>M=3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154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μ = 0.18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3154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Light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840480"/>
            <a:ext cx="3383280" cy="603504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886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onsolas"/>
              </a:rPr>
              <a:t>M=5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886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μ = 1.0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3886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Balanced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572000"/>
            <a:ext cx="3383280" cy="603504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617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onsolas"/>
              </a:rPr>
              <a:t>M=7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4617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μ = 5.6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Expensive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5303520"/>
            <a:ext cx="3383280" cy="603504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5349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020"/>
                </a:solidFill>
                <a:latin typeface="Consolas"/>
              </a:rPr>
              <a:t>M=10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9680" y="5349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μ = 31.6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5349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Very costly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36576" cy="6858000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2976" y="0"/>
            <a:ext cx="6638544" cy="6858000"/>
          </a:xfrm>
          <a:prstGeom prst="rect">
            <a:avLst/>
          </a:prstGeom>
          <a:solidFill>
            <a:srgbClr val="0C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Conclusions &amp;
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36576" cy="69494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Unified Network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32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All 10 metro lines share one objective. Adding M2 trains implicitly trades off against M4 trips — a true network 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35808"/>
            <a:ext cx="36576" cy="694944"/>
          </a:xfrm>
          <a:prstGeom prst="rect">
            <a:avLst/>
          </a:prstGeom>
          <a:solidFill>
            <a:srgbClr val="7CF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54096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FF8B"/>
                </a:solidFill>
                <a:latin typeface="Calibri"/>
              </a:rPr>
              <a:t>Money Importance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741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The log-scale M slider gives intuitive control. M=1 maximizes comfort; M=10 slashes costs. Planners can navigate the trade-off visually.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77056"/>
            <a:ext cx="36576" cy="6949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95344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OD Matrix is Essential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153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Replacing p=0.35 with Diurnal Asymmetry inference makes onboard load station-specific. Results are grounded in real travel patterns.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18304"/>
            <a:ext cx="36576" cy="69494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36592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~35% Waiting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56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At M=5 (balanced config) the optimizer cuts network-wide waiting by ~35% with only a modest increase in train trips.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59552"/>
            <a:ext cx="36576" cy="6949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577840"/>
            <a:ext cx="4572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Dashboard is Truly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97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Every slider move re-runs greedy optimization for all 10 lines × 24 hours in &lt;50ms. Fully in-browser, shareable as a single HTML file.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731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FF8B"/>
                </a:solidFill>
                <a:latin typeface="Calibri"/>
              </a:rPr>
              <a:t>Future Directions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1325880"/>
            <a:ext cx="5943600" cy="91440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139903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FF8B"/>
                </a:solidFill>
                <a:latin typeface="Calibri"/>
              </a:rPr>
              <a:t>→ Transfer penalties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74650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Penalize congested interchange stations (e.g. Yenikapi: M1+M2+Marmaray) where lines connect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377439"/>
            <a:ext cx="5943600" cy="91440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450591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FF8B"/>
                </a:solidFill>
                <a:latin typeface="Calibri"/>
              </a:rPr>
              <a:t>→ Rolling horizon MRP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798063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Re-optimize every 15 min using real-time turnstile sensor data from IBB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3429000"/>
            <a:ext cx="5943600" cy="91440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5021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FF8B"/>
                </a:solidFill>
                <a:latin typeface="Calibri"/>
              </a:rPr>
              <a:t>→ Multi-objective Pareto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84962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Generate full Pareto frontier and let planners choose from non-dominated solutions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4480559"/>
            <a:ext cx="5943600" cy="91440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553711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FF8B"/>
                </a:solidFill>
                <a:latin typeface="Calibri"/>
              </a:rPr>
              <a:t>→ Event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901183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Use big3_22kasım_24ekim.csv to boost demand at Beşiktaş/Galatasaray/Fenerbahçe match hours automatically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5532120"/>
            <a:ext cx="5943600" cy="914400"/>
          </a:xfrm>
          <a:prstGeom prst="rect">
            <a:avLst/>
          </a:prstGeom>
          <a:solidFill>
            <a:srgbClr val="15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60527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FF8B"/>
                </a:solidFill>
                <a:latin typeface="Calibri"/>
              </a:rPr>
              <a:t>→ Reinforcement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95274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Train a continuous policy (PPO/SAC) that adapts x(l,t) every minute rather than hourly batches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6492240"/>
            <a:ext cx="1216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github.com/erdemhasbek/TermProjectYZV202E  ·  IBB Open Data  ·  ITU AI &amp; DE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